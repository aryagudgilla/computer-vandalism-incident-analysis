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72" r:id="rId11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41D49-AF8E-4063-AA00-D30AF3CE222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141D1-E0F4-4AC5-B622-99D0BE44F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04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180200"/>
            <a:ext cx="13028295" cy="7775205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br>
              <a:rPr lang="en-US" sz="4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4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TAE-II </a:t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Seminar</a:t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4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4800" dirty="0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Computer Vandalism and Evidence Correlation</a:t>
            </a:r>
            <a:r>
              <a:rPr lang="en-US" sz="4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4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4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Forensics and Investigation(N-PECCM704T) </a:t>
            </a:r>
            <a:br>
              <a:rPr lang="en-US" sz="4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3132191" y="6781572"/>
            <a:ext cx="4114800" cy="1259658"/>
          </a:xfrm>
          <a:prstGeom prst="rect">
            <a:avLst/>
          </a:prstGeom>
          <a:noFill/>
          <a:ln>
            <a:noFill/>
          </a:ln>
        </p:spPr>
        <p:txBody>
          <a:bodyPr lIns="135000" tIns="67500" rIns="135000" bIns="67500"/>
          <a:lstStyle/>
          <a:p>
            <a:pPr>
              <a:lnSpc>
                <a:spcPct val="100000"/>
              </a:lnSpc>
            </a:pP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1.Arya </a:t>
            </a:r>
            <a:r>
              <a:rPr lang="en-IN" sz="3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Gudgilla</a:t>
            </a: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(CM23022)</a:t>
            </a:r>
          </a:p>
          <a:p>
            <a:pPr>
              <a:lnSpc>
                <a:spcPct val="100000"/>
              </a:lnSpc>
            </a:pP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endParaRPr sz="27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11085317" y="6453888"/>
            <a:ext cx="5114925" cy="1833840"/>
          </a:xfrm>
          <a:prstGeom prst="rect">
            <a:avLst/>
          </a:prstGeom>
          <a:noFill/>
          <a:ln>
            <a:noFill/>
          </a:ln>
        </p:spPr>
        <p:txBody>
          <a:bodyPr wrap="none" lIns="135000" tIns="67500" rIns="135000" bIns="67500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Sweta Bokade</a:t>
            </a:r>
            <a:r>
              <a:rPr lang="en-IN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endParaRPr lang="en-IN"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4285566" y="8278263"/>
            <a:ext cx="9943560" cy="596700"/>
          </a:xfrm>
          <a:prstGeom prst="rect">
            <a:avLst/>
          </a:prstGeom>
          <a:noFill/>
          <a:ln>
            <a:noFill/>
          </a:ln>
        </p:spPr>
        <p:txBody>
          <a:bodyPr lIns="135000" tIns="67500" rIns="135000" bIns="67500"/>
          <a:lstStyle/>
          <a:p>
            <a:pPr algn="ctr">
              <a:lnSpc>
                <a:spcPct val="100000"/>
              </a:lnSpc>
            </a:pPr>
            <a:r>
              <a:rPr lang="en-IN" sz="3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33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3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Session:2026-27 (ODD )</a:t>
            </a:r>
          </a:p>
          <a:p>
            <a:pPr algn="ctr">
              <a:lnSpc>
                <a:spcPct val="100000"/>
              </a:lnSpc>
            </a:pPr>
            <a:r>
              <a:rPr lang="en-IN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Emerging Technologies (AI&amp;ML )</a:t>
            </a:r>
          </a:p>
          <a:p>
            <a:pPr>
              <a:lnSpc>
                <a:spcPct val="100000"/>
              </a:lnSpc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pc="-5"/>
              <a:t>S. B. Jain Institute of Technology Management and research</a:t>
            </a:r>
            <a:endParaRPr lang="en-US" sz="21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CA6D2-53A3-522D-0384-81364385FF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643" y="248334"/>
            <a:ext cx="11955410" cy="159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596" y="731463"/>
            <a:ext cx="6623847" cy="8832113"/>
            <a:chOff x="0" y="0"/>
            <a:chExt cx="8831796" cy="1177615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831834" cy="11776202"/>
            </a:xfrm>
            <a:custGeom>
              <a:avLst/>
              <a:gdLst/>
              <a:ahLst/>
              <a:cxnLst/>
              <a:rect l="l" t="t" r="r" b="b"/>
              <a:pathLst>
                <a:path w="8831834" h="11776202">
                  <a:moveTo>
                    <a:pt x="0" y="0"/>
                  </a:moveTo>
                  <a:lnTo>
                    <a:pt x="8831834" y="0"/>
                  </a:lnTo>
                  <a:lnTo>
                    <a:pt x="8831834" y="11776202"/>
                  </a:lnTo>
                  <a:lnTo>
                    <a:pt x="0" y="11776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" r="-4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6182" y="825913"/>
            <a:ext cx="9452677" cy="7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7856182" y="1896066"/>
            <a:ext cx="9452677" cy="1736989"/>
          </a:xfrm>
          <a:custGeom>
            <a:avLst/>
            <a:gdLst/>
            <a:ahLst/>
            <a:cxnLst/>
            <a:rect l="l" t="t" r="r" b="b"/>
            <a:pathLst>
              <a:path w="9452677" h="1736989">
                <a:moveTo>
                  <a:pt x="0" y="0"/>
                </a:moveTo>
                <a:lnTo>
                  <a:pt x="9452677" y="0"/>
                </a:lnTo>
                <a:lnTo>
                  <a:pt x="9452677" y="1736988"/>
                </a:lnTo>
                <a:lnTo>
                  <a:pt x="0" y="173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8" b="-4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8238506" y="2154488"/>
            <a:ext cx="8802395" cy="38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Computer Vandalism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38506" y="2611479"/>
            <a:ext cx="8802395" cy="75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Unauthorized modification, deletion, or damage to computer systems, data, or services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7856182" y="3835022"/>
            <a:ext cx="9452677" cy="1736989"/>
          </a:xfrm>
          <a:custGeom>
            <a:avLst/>
            <a:gdLst/>
            <a:ahLst/>
            <a:cxnLst/>
            <a:rect l="l" t="t" r="r" b="b"/>
            <a:pathLst>
              <a:path w="9452677" h="1736989">
                <a:moveTo>
                  <a:pt x="0" y="0"/>
                </a:moveTo>
                <a:lnTo>
                  <a:pt x="9452677" y="0"/>
                </a:lnTo>
                <a:lnTo>
                  <a:pt x="9452677" y="1736989"/>
                </a:lnTo>
                <a:lnTo>
                  <a:pt x="0" y="173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8" b="-4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8238506" y="4093445"/>
            <a:ext cx="8802395" cy="38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Digital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38506" y="4550445"/>
            <a:ext cx="8802395" cy="75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Information stored or transmitted in digital form that can be used in investigations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7856182" y="5773979"/>
            <a:ext cx="9452677" cy="1736989"/>
          </a:xfrm>
          <a:custGeom>
            <a:avLst/>
            <a:gdLst/>
            <a:ahLst/>
            <a:cxnLst/>
            <a:rect l="l" t="t" r="r" b="b"/>
            <a:pathLst>
              <a:path w="9452677" h="1736989">
                <a:moveTo>
                  <a:pt x="0" y="0"/>
                </a:moveTo>
                <a:lnTo>
                  <a:pt x="9452677" y="0"/>
                </a:lnTo>
                <a:lnTo>
                  <a:pt x="9452677" y="1736988"/>
                </a:lnTo>
                <a:lnTo>
                  <a:pt x="0" y="173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8" b="-4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8238506" y="6032411"/>
            <a:ext cx="8802395" cy="38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Why It Matters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38506" y="6489402"/>
            <a:ext cx="8802395" cy="75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Cyber attacks damage organizations; forensic investigation requires collecting and correlating evidence to identify attackers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7856182" y="7712945"/>
            <a:ext cx="9452677" cy="1736989"/>
          </a:xfrm>
          <a:custGeom>
            <a:avLst/>
            <a:gdLst/>
            <a:ahLst/>
            <a:cxnLst/>
            <a:rect l="l" t="t" r="r" b="b"/>
            <a:pathLst>
              <a:path w="9452677" h="1736989">
                <a:moveTo>
                  <a:pt x="0" y="0"/>
                </a:moveTo>
                <a:lnTo>
                  <a:pt x="9452677" y="0"/>
                </a:lnTo>
                <a:lnTo>
                  <a:pt x="9452677" y="1736988"/>
                </a:lnTo>
                <a:lnTo>
                  <a:pt x="0" y="173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18" b="-4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8238506" y="7971368"/>
            <a:ext cx="8802395" cy="38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Real-World Context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38506" y="8428358"/>
            <a:ext cx="8802395" cy="75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Website defacement, data breaches, and ransomware attacks are growing threats requiring systematic investigation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774678"/>
            <a:ext cx="16315868" cy="71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Computer Vandalism Explained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18286" y="1941043"/>
            <a:ext cx="7365416" cy="7365454"/>
            <a:chOff x="0" y="0"/>
            <a:chExt cx="9820554" cy="982060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820529" cy="9820656"/>
            </a:xfrm>
            <a:custGeom>
              <a:avLst/>
              <a:gdLst/>
              <a:ahLst/>
              <a:cxnLst/>
              <a:rect l="l" t="t" r="r" b="b"/>
              <a:pathLst>
                <a:path w="9820529" h="9820656">
                  <a:moveTo>
                    <a:pt x="0" y="0"/>
                  </a:moveTo>
                  <a:lnTo>
                    <a:pt x="9820529" y="0"/>
                  </a:lnTo>
                  <a:lnTo>
                    <a:pt x="9820529" y="9820656"/>
                  </a:lnTo>
                  <a:lnTo>
                    <a:pt x="0" y="9820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33680" y="3195895"/>
            <a:ext cx="2373239" cy="38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3680" y="3693166"/>
            <a:ext cx="2373239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0"/>
              </a:lnSpc>
            </a:pPr>
            <a:r>
              <a:rPr lang="en-US" sz="1801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Attacker gains unauthorized entry into systems.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7813" y="3063316"/>
            <a:ext cx="2373239" cy="38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Control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7813" y="3560578"/>
            <a:ext cx="2373239" cy="105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0"/>
              </a:lnSpc>
            </a:pPr>
            <a:r>
              <a:rPr lang="en-US" sz="1801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Threat actor escalates privileges and maintains persistence.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3890" y="6769903"/>
            <a:ext cx="2373239" cy="38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Damage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3890" y="7267175"/>
            <a:ext cx="2373239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0"/>
              </a:lnSpc>
            </a:pPr>
            <a:r>
              <a:rPr lang="en-US" sz="1801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Systems are altered, corrupted, or sabotaged.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7813" y="6769903"/>
            <a:ext cx="2373239" cy="38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7813" y="7267175"/>
            <a:ext cx="2373239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0"/>
              </a:lnSpc>
            </a:pPr>
            <a:r>
              <a:rPr lang="en-US" sz="1801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Leads to data loss or service disruption for users.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959199" y="3217345"/>
            <a:ext cx="5359041" cy="1278388"/>
            <a:chOff x="0" y="0"/>
            <a:chExt cx="7145388" cy="17045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45401" cy="1704467"/>
            </a:xfrm>
            <a:custGeom>
              <a:avLst/>
              <a:gdLst/>
              <a:ahLst/>
              <a:cxnLst/>
              <a:rect l="l" t="t" r="r" b="b"/>
              <a:pathLst>
                <a:path w="7145401" h="1704467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7101078" y="0"/>
                  </a:lnTo>
                  <a:cubicBezTo>
                    <a:pt x="7125589" y="0"/>
                    <a:pt x="7145401" y="19812"/>
                    <a:pt x="7145401" y="44323"/>
                  </a:cubicBezTo>
                  <a:lnTo>
                    <a:pt x="7145401" y="1660144"/>
                  </a:lnTo>
                  <a:cubicBezTo>
                    <a:pt x="7145401" y="1684655"/>
                    <a:pt x="7125589" y="1704467"/>
                    <a:pt x="7101078" y="1704467"/>
                  </a:cubicBezTo>
                  <a:lnTo>
                    <a:pt x="44323" y="1704467"/>
                  </a:lnTo>
                  <a:cubicBezTo>
                    <a:pt x="19812" y="1704467"/>
                    <a:pt x="0" y="1684655"/>
                    <a:pt x="0" y="166014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80818" y="3419932"/>
            <a:ext cx="4915786" cy="3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Unauthorized File Modification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80818" y="3920252"/>
            <a:ext cx="4915786" cy="35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Attackers alter or corrupt critical files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959199" y="4668812"/>
            <a:ext cx="5359041" cy="1594152"/>
            <a:chOff x="0" y="0"/>
            <a:chExt cx="7145388" cy="2125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45401" cy="2125472"/>
            </a:xfrm>
            <a:custGeom>
              <a:avLst/>
              <a:gdLst/>
              <a:ahLst/>
              <a:cxnLst/>
              <a:rect l="l" t="t" r="r" b="b"/>
              <a:pathLst>
                <a:path w="7145401" h="2125472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7101078" y="0"/>
                  </a:lnTo>
                  <a:cubicBezTo>
                    <a:pt x="7125589" y="0"/>
                    <a:pt x="7145401" y="19812"/>
                    <a:pt x="7145401" y="44323"/>
                  </a:cubicBezTo>
                  <a:lnTo>
                    <a:pt x="7145401" y="2081149"/>
                  </a:lnTo>
                  <a:cubicBezTo>
                    <a:pt x="7145401" y="2105660"/>
                    <a:pt x="7125589" y="2125472"/>
                    <a:pt x="7101078" y="2125472"/>
                  </a:cubicBezTo>
                  <a:lnTo>
                    <a:pt x="44323" y="2125472"/>
                  </a:lnTo>
                  <a:cubicBezTo>
                    <a:pt x="19812" y="2125472"/>
                    <a:pt x="0" y="2105660"/>
                    <a:pt x="0" y="208114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180818" y="4871390"/>
            <a:ext cx="4915786" cy="3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Website Defacement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80818" y="5371709"/>
            <a:ext cx="4915786" cy="66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Hackers change website content to display malicious messages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959199" y="6436042"/>
            <a:ext cx="5359041" cy="1594152"/>
            <a:chOff x="0" y="0"/>
            <a:chExt cx="7145388" cy="21255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45401" cy="2125472"/>
            </a:xfrm>
            <a:custGeom>
              <a:avLst/>
              <a:gdLst/>
              <a:ahLst/>
              <a:cxnLst/>
              <a:rect l="l" t="t" r="r" b="b"/>
              <a:pathLst>
                <a:path w="7145401" h="2125472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7101078" y="0"/>
                  </a:lnTo>
                  <a:cubicBezTo>
                    <a:pt x="7125589" y="0"/>
                    <a:pt x="7145401" y="19812"/>
                    <a:pt x="7145401" y="44323"/>
                  </a:cubicBezTo>
                  <a:lnTo>
                    <a:pt x="7145401" y="2081149"/>
                  </a:lnTo>
                  <a:cubicBezTo>
                    <a:pt x="7145401" y="2105660"/>
                    <a:pt x="7125589" y="2125472"/>
                    <a:pt x="7101078" y="2125472"/>
                  </a:cubicBezTo>
                  <a:lnTo>
                    <a:pt x="44323" y="2125472"/>
                  </a:lnTo>
                  <a:cubicBezTo>
                    <a:pt x="19812" y="2125472"/>
                    <a:pt x="0" y="2105660"/>
                    <a:pt x="0" y="208114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180818" y="6638620"/>
            <a:ext cx="4915786" cy="3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Malware Attacks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80818" y="7138940"/>
            <a:ext cx="4915786" cy="66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Deployment of viruses, trojans, or ransomware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849449"/>
            <a:ext cx="16315868" cy="90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Types of Computer Vandalism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2322643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" r="-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92991" y="3235233"/>
            <a:ext cx="7980540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Website Defacement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3782063"/>
            <a:ext cx="7980540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Unauthorized changes to website appearance or content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8156" y="2322643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499" b="-749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9328156" y="3235233"/>
            <a:ext cx="7980693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Data Destruction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8156" y="3782063"/>
            <a:ext cx="7980693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Permanent deletion or corruption of critical data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991" y="4879724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31" b="-333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992991" y="5792314"/>
            <a:ext cx="7980540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Malware-Based Damage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991" y="6339135"/>
            <a:ext cx="7980540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Viruses, trojans, worms causing system harm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8156" y="4879724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2" y="0"/>
                </a:lnTo>
                <a:lnTo>
                  <a:pt x="567462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002" r="-5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9328156" y="5792314"/>
            <a:ext cx="7980693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File Modification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8156" y="6339135"/>
            <a:ext cx="7980693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Unauthorized changes to system or user files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92991" y="7436796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1" y="0"/>
                </a:lnTo>
                <a:lnTo>
                  <a:pt x="567461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8" r="-666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992991" y="8349386"/>
            <a:ext cx="7980540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System Disruption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991" y="8896217"/>
            <a:ext cx="7980540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DoS attacks making services unavailable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328156" y="7436796"/>
            <a:ext cx="567461" cy="567480"/>
          </a:xfrm>
          <a:custGeom>
            <a:avLst/>
            <a:gdLst/>
            <a:ahLst/>
            <a:cxnLst/>
            <a:rect l="l" t="t" r="r" b="b"/>
            <a:pathLst>
              <a:path w="567461" h="567480">
                <a:moveTo>
                  <a:pt x="0" y="0"/>
                </a:moveTo>
                <a:lnTo>
                  <a:pt x="567462" y="0"/>
                </a:lnTo>
                <a:lnTo>
                  <a:pt x="567462" y="567481"/>
                </a:lnTo>
                <a:lnTo>
                  <a:pt x="0" y="567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335" r="-333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9328156" y="8349386"/>
            <a:ext cx="7980693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Hardware Damage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28156" y="8896217"/>
            <a:ext cx="7980693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Physical or logical damage to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894131"/>
            <a:ext cx="16315868" cy="90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Digital Evidence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99598"/>
            <a:ext cx="526043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Definition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3159919"/>
            <a:ext cx="526043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Any information in digital form that can prove or disprove facts in a cyber investigation.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4872276"/>
            <a:ext cx="526043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Sources of Digital Evidence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991" y="5532606"/>
            <a:ext cx="5260438" cy="375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Computers and workstations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Mobile phones and tablets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Servers and databases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Network devices (routers, firewalls)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Cloud storage and services</a:t>
            </a:r>
          </a:p>
          <a:p>
            <a:pPr marL="394236" lvl="1" indent="-197118" algn="l">
              <a:lnSpc>
                <a:spcPts val="3474"/>
              </a:lnSpc>
              <a:buFont typeface="Arial"/>
              <a:buChar char="•"/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logs and event records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55231" y="3569160"/>
            <a:ext cx="10363000" cy="4468930"/>
            <a:chOff x="0" y="0"/>
            <a:chExt cx="13817333" cy="595857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3817346" cy="5958586"/>
            </a:xfrm>
            <a:custGeom>
              <a:avLst/>
              <a:gdLst/>
              <a:ahLst/>
              <a:cxnLst/>
              <a:rect l="l" t="t" r="r" b="b"/>
              <a:pathLst>
                <a:path w="13817346" h="5958586">
                  <a:moveTo>
                    <a:pt x="0" y="0"/>
                  </a:moveTo>
                  <a:lnTo>
                    <a:pt x="13817346" y="0"/>
                  </a:lnTo>
                  <a:lnTo>
                    <a:pt x="13817346" y="5958586"/>
                  </a:lnTo>
                  <a:lnTo>
                    <a:pt x="0" y="5958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r="-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52499" y="7181088"/>
            <a:ext cx="2351046" cy="30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Forensic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2499" y="6146597"/>
            <a:ext cx="2351046" cy="30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Digital Evidence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2499" y="5122564"/>
            <a:ext cx="2351046" cy="30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Collection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52499" y="4088082"/>
            <a:ext cx="2351046" cy="30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Digital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322" y="754999"/>
            <a:ext cx="6588395" cy="8784898"/>
            <a:chOff x="0" y="0"/>
            <a:chExt cx="8784526" cy="1171319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84590" cy="11713210"/>
            </a:xfrm>
            <a:custGeom>
              <a:avLst/>
              <a:gdLst/>
              <a:ahLst/>
              <a:cxnLst/>
              <a:rect l="l" t="t" r="r" b="b"/>
              <a:pathLst>
                <a:path w="8784590" h="11713210">
                  <a:moveTo>
                    <a:pt x="0" y="0"/>
                  </a:moveTo>
                  <a:lnTo>
                    <a:pt x="8784590" y="0"/>
                  </a:lnTo>
                  <a:lnTo>
                    <a:pt x="8784590" y="11713210"/>
                  </a:lnTo>
                  <a:lnTo>
                    <a:pt x="0" y="11713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6182" y="812073"/>
            <a:ext cx="9452677" cy="88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Evidence Correlation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2022729"/>
            <a:ext cx="9452677" cy="94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101" b="1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Meaning:</a:t>
            </a: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Connecting evidence from multiple sources to understand the complete picture of an incident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56182" y="3521059"/>
            <a:ext cx="4391073" cy="43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Key Activities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6182" y="4149947"/>
            <a:ext cx="4391073" cy="5211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641" lvl="1" indent="-190321" algn="l">
              <a:lnSpc>
                <a:spcPts val="3303"/>
              </a:lnSpc>
              <a:buFont typeface="Arial"/>
              <a:buChar char="•"/>
            </a:pP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Collect evidence from multiple sources — logs, files, devices</a:t>
            </a:r>
          </a:p>
          <a:p>
            <a:pPr marL="380641" lvl="1" indent="-190321" algn="l">
              <a:lnSpc>
                <a:spcPts val="3303"/>
              </a:lnSpc>
              <a:buFont typeface="Arial"/>
              <a:buChar char="•"/>
            </a:pP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Compare timestamps and user activities</a:t>
            </a:r>
          </a:p>
          <a:p>
            <a:pPr marL="380641" lvl="1" indent="-190321" algn="l">
              <a:lnSpc>
                <a:spcPts val="3303"/>
              </a:lnSpc>
              <a:buFont typeface="Arial"/>
              <a:buChar char="•"/>
            </a:pP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Connect users, devices, IP addresses, and files</a:t>
            </a:r>
          </a:p>
          <a:p>
            <a:pPr marL="380641" lvl="1" indent="-190321" algn="l">
              <a:lnSpc>
                <a:spcPts val="3303"/>
              </a:lnSpc>
              <a:buFont typeface="Arial"/>
              <a:buChar char="•"/>
            </a:pP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relationships between events</a:t>
            </a:r>
          </a:p>
          <a:p>
            <a:pPr marL="380641" lvl="1" indent="-190321" algn="l">
              <a:lnSpc>
                <a:spcPts val="3303"/>
              </a:lnSpc>
              <a:buFont typeface="Arial"/>
              <a:buChar char="•"/>
            </a:pPr>
            <a:r>
              <a:rPr lang="en-US" sz="2101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 timeline of the incident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29372" y="3264418"/>
            <a:ext cx="4786960" cy="6189983"/>
            <a:chOff x="0" y="0"/>
            <a:chExt cx="6382614" cy="82533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82639" cy="8253349"/>
            </a:xfrm>
            <a:custGeom>
              <a:avLst/>
              <a:gdLst/>
              <a:ahLst/>
              <a:cxnLst/>
              <a:rect l="l" t="t" r="r" b="b"/>
              <a:pathLst>
                <a:path w="6382639" h="8253349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6327648" y="0"/>
                  </a:lnTo>
                  <a:cubicBezTo>
                    <a:pt x="6358001" y="0"/>
                    <a:pt x="6382639" y="24638"/>
                    <a:pt x="6382639" y="54991"/>
                  </a:cubicBezTo>
                  <a:lnTo>
                    <a:pt x="6382639" y="8198358"/>
                  </a:lnTo>
                  <a:cubicBezTo>
                    <a:pt x="6382639" y="8228711"/>
                    <a:pt x="6358001" y="8253349"/>
                    <a:pt x="6327648" y="8253349"/>
                  </a:cubicBezTo>
                  <a:lnTo>
                    <a:pt x="54991" y="8253349"/>
                  </a:lnTo>
                  <a:cubicBezTo>
                    <a:pt x="24638" y="8253349"/>
                    <a:pt x="0" y="8228711"/>
                    <a:pt x="0" y="8198358"/>
                  </a:cubicBezTo>
                  <a:close/>
                </a:path>
              </a:pathLst>
            </a:custGeom>
            <a:solidFill>
              <a:srgbClr val="1E3A8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004168" y="3521059"/>
            <a:ext cx="4237368" cy="43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04168" y="4149947"/>
            <a:ext cx="4237368" cy="224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101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Reconstruct exactly what happened and identify the attacker through systematic cross-referencing of all available digital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761571"/>
            <a:ext cx="16315868" cy="753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Evidence Correlation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856480"/>
            <a:ext cx="17230954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 b="1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Forensic Investigation Flowchart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91" y="2466518"/>
            <a:ext cx="16315868" cy="7047757"/>
            <a:chOff x="0" y="0"/>
            <a:chExt cx="21754490" cy="939700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1754464" cy="9396984"/>
            </a:xfrm>
            <a:custGeom>
              <a:avLst/>
              <a:gdLst/>
              <a:ahLst/>
              <a:cxnLst/>
              <a:rect l="l" t="t" r="r" b="b"/>
              <a:pathLst>
                <a:path w="21754464" h="9396984">
                  <a:moveTo>
                    <a:pt x="0" y="0"/>
                  </a:moveTo>
                  <a:lnTo>
                    <a:pt x="21754464" y="0"/>
                  </a:lnTo>
                  <a:lnTo>
                    <a:pt x="21754464" y="9396984"/>
                  </a:lnTo>
                  <a:lnTo>
                    <a:pt x="0" y="9396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6354" y="7331602"/>
            <a:ext cx="2422627" cy="4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Collect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86354" y="7926934"/>
            <a:ext cx="2422627" cy="94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and gather digital evidence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07036" y="7331602"/>
            <a:ext cx="2422627" cy="4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Analyze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07036" y="7926934"/>
            <a:ext cx="2422627" cy="94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Examine logs, files, correlate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3737" y="3092939"/>
            <a:ext cx="2422627" cy="4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Incident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3737" y="3688271"/>
            <a:ext cx="2422627" cy="62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Initial occurrence detected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17231" y="3092939"/>
            <a:ext cx="2422627" cy="4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Report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17231" y="3688271"/>
            <a:ext cx="2422627" cy="94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Timeline, attribution, and findings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35300" y="3092939"/>
            <a:ext cx="2422627" cy="45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Preserve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35300" y="3688271"/>
            <a:ext cx="2422627" cy="62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Maintain chain of custody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767982"/>
            <a:ext cx="1631586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Case Study: Website Defacement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2108454"/>
            <a:ext cx="5323884" cy="5324018"/>
            <a:chOff x="0" y="0"/>
            <a:chExt cx="7098513" cy="709869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098538" cy="7098665"/>
            </a:xfrm>
            <a:custGeom>
              <a:avLst/>
              <a:gdLst/>
              <a:ahLst/>
              <a:cxnLst/>
              <a:rect l="l" t="t" r="r" b="b"/>
              <a:pathLst>
                <a:path w="7098538" h="7098665">
                  <a:moveTo>
                    <a:pt x="0" y="0"/>
                  </a:moveTo>
                  <a:lnTo>
                    <a:pt x="7098538" y="0"/>
                  </a:lnTo>
                  <a:lnTo>
                    <a:pt x="7098538" y="7098665"/>
                  </a:lnTo>
                  <a:lnTo>
                    <a:pt x="0" y="709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21275" y="3989184"/>
            <a:ext cx="1039710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Scenario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21275" y="4541501"/>
            <a:ext cx="11312204" cy="41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 organization's website was defaced with malicious content overnight.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1275" y="5151701"/>
            <a:ext cx="1039710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Evidence Correlation Findings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64387" y="7875146"/>
            <a:ext cx="3911184" cy="1651940"/>
          </a:xfrm>
          <a:custGeom>
            <a:avLst/>
            <a:gdLst/>
            <a:ahLst/>
            <a:cxnLst/>
            <a:rect l="l" t="t" r="r" b="b"/>
            <a:pathLst>
              <a:path w="3911184" h="1651940">
                <a:moveTo>
                  <a:pt x="0" y="0"/>
                </a:moveTo>
                <a:lnTo>
                  <a:pt x="3911184" y="0"/>
                </a:lnTo>
                <a:lnTo>
                  <a:pt x="3911184" y="1651940"/>
                </a:lnTo>
                <a:lnTo>
                  <a:pt x="0" y="1651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7" b="-1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94000" y="7894215"/>
            <a:ext cx="358158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Web Server Logs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4000" y="8362826"/>
            <a:ext cx="3581581" cy="77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Unauthorized login at </a:t>
            </a:r>
            <a:r>
              <a:rPr lang="en-US" sz="1876" b="1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2:15 AM</a:t>
            </a: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from IP 192.168.x.x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5108819" y="7875146"/>
            <a:ext cx="3911184" cy="1651940"/>
          </a:xfrm>
          <a:custGeom>
            <a:avLst/>
            <a:gdLst/>
            <a:ahLst/>
            <a:cxnLst/>
            <a:rect l="l" t="t" r="r" b="b"/>
            <a:pathLst>
              <a:path w="3911184" h="1651940">
                <a:moveTo>
                  <a:pt x="0" y="0"/>
                </a:moveTo>
                <a:lnTo>
                  <a:pt x="3911185" y="0"/>
                </a:lnTo>
                <a:lnTo>
                  <a:pt x="3911185" y="1651940"/>
                </a:lnTo>
                <a:lnTo>
                  <a:pt x="0" y="1651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7" b="-1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5438423" y="7894215"/>
            <a:ext cx="358158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File Metadata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38423" y="8362826"/>
            <a:ext cx="3581581" cy="77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Website files modified at </a:t>
            </a:r>
            <a:r>
              <a:rPr lang="en-US" sz="1876" b="1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2:17 AM</a:t>
            </a: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, matching login timestamp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253242" y="7875146"/>
            <a:ext cx="3911184" cy="1651940"/>
          </a:xfrm>
          <a:custGeom>
            <a:avLst/>
            <a:gdLst/>
            <a:ahLst/>
            <a:cxnLst/>
            <a:rect l="l" t="t" r="r" b="b"/>
            <a:pathLst>
              <a:path w="3911184" h="1651940">
                <a:moveTo>
                  <a:pt x="0" y="0"/>
                </a:moveTo>
                <a:lnTo>
                  <a:pt x="3911184" y="0"/>
                </a:lnTo>
                <a:lnTo>
                  <a:pt x="3911184" y="1651940"/>
                </a:lnTo>
                <a:lnTo>
                  <a:pt x="0" y="1651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7" b="-1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9582845" y="7894215"/>
            <a:ext cx="358158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Network Logs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82845" y="8362826"/>
            <a:ext cx="3581581" cy="77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Unusual data transfer detected from that IP address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13397665" y="7875146"/>
            <a:ext cx="3911184" cy="1651940"/>
          </a:xfrm>
          <a:custGeom>
            <a:avLst/>
            <a:gdLst/>
            <a:ahLst/>
            <a:cxnLst/>
            <a:rect l="l" t="t" r="r" b="b"/>
            <a:pathLst>
              <a:path w="3911184" h="1651940">
                <a:moveTo>
                  <a:pt x="0" y="0"/>
                </a:moveTo>
                <a:lnTo>
                  <a:pt x="3911184" y="0"/>
                </a:lnTo>
                <a:lnTo>
                  <a:pt x="3911184" y="1651940"/>
                </a:lnTo>
                <a:lnTo>
                  <a:pt x="0" y="1651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7" b="-1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3727278" y="7894215"/>
            <a:ext cx="358158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Result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27278" y="8362826"/>
            <a:ext cx="3581581" cy="113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Correlated evidence identifies attacker's IP, method, and full timeline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1136161"/>
            <a:ext cx="16315868" cy="90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2644807"/>
            <a:ext cx="283731" cy="283740"/>
          </a:xfrm>
          <a:custGeom>
            <a:avLst/>
            <a:gdLst/>
            <a:ahLst/>
            <a:cxnLst/>
            <a:rect l="l" t="t" r="r" b="b"/>
            <a:pathLst>
              <a:path w="283731" h="283740">
                <a:moveTo>
                  <a:pt x="0" y="0"/>
                </a:moveTo>
                <a:lnTo>
                  <a:pt x="283730" y="0"/>
                </a:lnTo>
                <a:lnTo>
                  <a:pt x="283730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97" b="-1999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992991" y="3053515"/>
            <a:ext cx="5249418" cy="38129"/>
            <a:chOff x="0" y="0"/>
            <a:chExt cx="6999224" cy="50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991" y="3262036"/>
            <a:ext cx="524941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Computer Vandalism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991" y="3808867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Causes significant damage to systems and digital information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6526139" y="2644807"/>
            <a:ext cx="283731" cy="283740"/>
          </a:xfrm>
          <a:custGeom>
            <a:avLst/>
            <a:gdLst/>
            <a:ahLst/>
            <a:cxnLst/>
            <a:rect l="l" t="t" r="r" b="b"/>
            <a:pathLst>
              <a:path w="283731" h="283740">
                <a:moveTo>
                  <a:pt x="0" y="0"/>
                </a:moveTo>
                <a:lnTo>
                  <a:pt x="283731" y="0"/>
                </a:lnTo>
                <a:lnTo>
                  <a:pt x="283731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665" b="-16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6526139" y="3053515"/>
            <a:ext cx="5249418" cy="38129"/>
            <a:chOff x="0" y="0"/>
            <a:chExt cx="6999224" cy="50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526139" y="3262036"/>
            <a:ext cx="524941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Digital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6139" y="3808867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Crucial for understanding cyber incidents and identifying attackers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2059288" y="2644807"/>
            <a:ext cx="283731" cy="283740"/>
          </a:xfrm>
          <a:custGeom>
            <a:avLst/>
            <a:gdLst/>
            <a:ahLst/>
            <a:cxnLst/>
            <a:rect l="l" t="t" r="r" b="b"/>
            <a:pathLst>
              <a:path w="283731" h="283740">
                <a:moveTo>
                  <a:pt x="0" y="0"/>
                </a:moveTo>
                <a:lnTo>
                  <a:pt x="283731" y="0"/>
                </a:lnTo>
                <a:lnTo>
                  <a:pt x="283731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65" b="-16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2059288" y="3053515"/>
            <a:ext cx="5249418" cy="38129"/>
            <a:chOff x="0" y="0"/>
            <a:chExt cx="6999224" cy="50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059288" y="3262036"/>
            <a:ext cx="524941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Evidence Correlation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59288" y="3808867"/>
            <a:ext cx="524941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Connects information from different sources to reveal the complete attack picture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92991" y="5778894"/>
            <a:ext cx="283731" cy="283740"/>
          </a:xfrm>
          <a:custGeom>
            <a:avLst/>
            <a:gdLst/>
            <a:ahLst/>
            <a:cxnLst/>
            <a:rect l="l" t="t" r="r" b="b"/>
            <a:pathLst>
              <a:path w="283731" h="283740">
                <a:moveTo>
                  <a:pt x="0" y="0"/>
                </a:moveTo>
                <a:lnTo>
                  <a:pt x="283730" y="0"/>
                </a:lnTo>
                <a:lnTo>
                  <a:pt x="283730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4998" b="-1499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992991" y="6187602"/>
            <a:ext cx="8015992" cy="38129"/>
            <a:chOff x="0" y="0"/>
            <a:chExt cx="10687990" cy="508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92991" y="6396133"/>
            <a:ext cx="8015992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Proper Preservation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991" y="6942953"/>
            <a:ext cx="801599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Maintains integrity and admissibility of evidence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9292714" y="5778894"/>
            <a:ext cx="283731" cy="283740"/>
          </a:xfrm>
          <a:custGeom>
            <a:avLst/>
            <a:gdLst/>
            <a:ahLst/>
            <a:cxnLst/>
            <a:rect l="l" t="t" r="r" b="b"/>
            <a:pathLst>
              <a:path w="283731" h="283740">
                <a:moveTo>
                  <a:pt x="0" y="0"/>
                </a:moveTo>
                <a:lnTo>
                  <a:pt x="283731" y="0"/>
                </a:lnTo>
                <a:lnTo>
                  <a:pt x="283731" y="283740"/>
                </a:lnTo>
                <a:lnTo>
                  <a:pt x="0" y="28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665" b="-16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" name="Group 28"/>
          <p:cNvGrpSpPr/>
          <p:nvPr/>
        </p:nvGrpSpPr>
        <p:grpSpPr>
          <a:xfrm>
            <a:off x="9292714" y="6187602"/>
            <a:ext cx="8015992" cy="38129"/>
            <a:chOff x="0" y="0"/>
            <a:chExt cx="10687990" cy="50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292714" y="6396133"/>
            <a:ext cx="8015992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Systematic Investigation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92714" y="6942953"/>
            <a:ext cx="801599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Helps reconstruct attacks and support legal proceedings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341076" y="4343220"/>
            <a:ext cx="11439693" cy="1974780"/>
          </a:xfrm>
          <a:prstGeom prst="rect">
            <a:avLst/>
          </a:prstGeom>
          <a:noFill/>
          <a:ln>
            <a:noFill/>
          </a:ln>
        </p:spPr>
        <p:txBody>
          <a:bodyPr lIns="135000" tIns="67500" rIns="135000" bIns="67500"/>
          <a:lstStyle/>
          <a:p>
            <a:pPr>
              <a:lnSpc>
                <a:spcPct val="100000"/>
              </a:lnSpc>
            </a:pPr>
            <a:r>
              <a:rPr lang="en-IN" sz="42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7200" b="1" dirty="0">
                <a:solidFill>
                  <a:srgbClr val="0000FF"/>
                </a:solidFill>
                <a:latin typeface="Arial"/>
              </a:rPr>
              <a:t>Thank You</a:t>
            </a:r>
            <a:endParaRPr sz="2700" dirty="0"/>
          </a:p>
          <a:p>
            <a:pPr>
              <a:lnSpc>
                <a:spcPct val="100000"/>
              </a:lnSpc>
            </a:pPr>
            <a:r>
              <a:rPr lang="en-IN" sz="7200" dirty="0">
                <a:solidFill>
                  <a:srgbClr val="0000FF"/>
                </a:solidFill>
                <a:latin typeface="Arial"/>
              </a:rPr>
              <a:t> </a:t>
            </a:r>
            <a:endParaRPr sz="2700" dirty="0"/>
          </a:p>
        </p:txBody>
      </p:sp>
      <p:sp>
        <p:nvSpPr>
          <p:cNvPr id="3" name="TextShape 3"/>
          <p:cNvSpPr txBox="1"/>
          <p:nvPr/>
        </p:nvSpPr>
        <p:spPr>
          <a:xfrm>
            <a:off x="2901601" y="9258300"/>
            <a:ext cx="10022816" cy="102816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2700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584</Words>
  <Application>Microsoft Office PowerPoint</Application>
  <PresentationFormat>Custom</PresentationFormat>
  <Paragraphs>111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Cambria</vt:lpstr>
      <vt:lpstr>DM Sans</vt:lpstr>
      <vt:lpstr>Calibri</vt:lpstr>
      <vt:lpstr>Times New Roman</vt:lpstr>
      <vt:lpstr>Aptos</vt:lpstr>
      <vt:lpstr>Inter Medium</vt:lpstr>
      <vt:lpstr>Inter Bold</vt:lpstr>
      <vt:lpstr>Office Theme</vt:lpstr>
      <vt:lpstr>  TAE-II  Seminar on “Computer Vandalism and Evidence Correlation” under the course Cyber Forensics and Investigation(N-PECCM704T)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3</cp:revision>
  <dcterms:created xsi:type="dcterms:W3CDTF">2006-08-16T00:00:00Z</dcterms:created>
  <dcterms:modified xsi:type="dcterms:W3CDTF">2026-09-10T17:08:28Z</dcterms:modified>
  <dc:identifier>DAHU0FaeG6M</dc:identifier>
</cp:coreProperties>
</file>